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0" Type="http://schemas.openxmlformats.org/officeDocument/2006/relationships/notesMaster" Target="notesMasters/notesMaster1.xml" 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161A"/>
              </a:gs>
              <a:gs pos="100000">
                <a:srgbClr val="1D2430"/>
              </a:gs>
            </a:gsLst>
            <a:lin ang="18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762000" y="1419225"/>
            <a:ext cx="6286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7F5F0">
                    <a:alpha val="50000"/>
                  </a:srgbClr>
                </a:solidFill>
                <a:latin typeface="Microsoft YaHei"/>
                <a:ea typeface="Microsoft YaHei"/>
              </a:rPr>
              <a:t xml:space="preserve">TECHATHON 2026 · </a:t>
            </a:r>
            <a:r>
              <a:rPr lang="zh-CN" sz="975" spc="150">
                <a:solidFill>
                  <a:srgbClr val="F7F5F0">
                    <a:alpha val="50000"/>
                  </a:srgbClr>
                </a:solidFill>
                <a:latin typeface="Microsoft YaHei"/>
                <a:ea typeface="Microsoft YaHei"/>
              </a:rPr>
              <a:t>融合信息软件</a:t>
            </a:r>
            <a:r>
              <a:rPr lang="en-US" sz="975" spc="150">
                <a:solidFill>
                  <a:srgbClr val="F7F5F0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F7F5F0">
                    <a:alpha val="50000"/>
                  </a:srgbClr>
                </a:solidFill>
                <a:latin typeface="Microsoft YaHei"/>
                <a:ea typeface="Microsoft YaHei"/>
              </a:rPr>
              <a:t>上海科技大学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1819275"/>
            <a:ext cx="6286500" cy="1152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7200" b="1" spc="300">
                <a:solidFill>
                  <a:srgbClr val="F7F5F0"/>
                </a:solidFill>
                <a:latin typeface="Microsoft YaHei"/>
                <a:ea typeface="Microsoft YaHei"/>
              </a:rPr>
              <a:t>对跖点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306705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675">
                <a:solidFill>
                  <a:srgbClr val="C2410C"/>
                </a:solidFill>
                <a:latin typeface="Microsoft YaHei"/>
                <a:ea typeface="Microsoft YaHei"/>
              </a:rPr>
              <a:t>A N T I P O D E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62000" y="3562350"/>
            <a:ext cx="609600" cy="1905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6286500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250">
                <a:solidFill>
                  <a:srgbClr val="F7F5F0">
                    <a:alpha val="92000"/>
                  </a:srgbClr>
                </a:solidFill>
                <a:latin typeface="Microsoft YaHei"/>
                <a:ea typeface="Microsoft YaHei"/>
              </a:rPr>
              <a:t>左边是你收的，</a:t>
            </a:r>
            <a:endParaRPr/>
          </a:p>
          <a:p>
            <a:pPr>
              <a:lnSpc>
                <a:spcPct val="150000"/>
              </a:lnSpc>
            </a:pPr>
            <a:r>
              <a:rPr lang="zh-CN" sz="2250">
                <a:solidFill>
                  <a:srgbClr val="F7F5F0">
                    <a:alpha val="92000"/>
                  </a:srgbClr>
                </a:solidFill>
                <a:latin typeface="Microsoft YaHei"/>
                <a:ea typeface="Microsoft YaHei"/>
              </a:rPr>
              <a:t>右边是你没看见的。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5105400"/>
            <a:ext cx="6286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>一个自动为你的信息库建立「反仓库」的系统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7467600" y="1428750"/>
            <a:ext cx="3810000" cy="3810000"/>
          </a:xfrm>
          <a:prstGeom prst="roundRect">
            <a:avLst>
              <a:gd name="adj" fmla="val 50000"/>
            </a:avLst>
          </a:prstGeom>
          <a:ln w="12700">
            <a:solidFill>
              <a:srgbClr val="F7F5F0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9363075" y="1428750"/>
            <a:ext cx="19050" cy="3810000"/>
          </a:xfrm>
          <a:prstGeom prst="rect">
            <a:avLst/>
          </a:prstGeom>
          <a:solidFill>
            <a:srgbClr val="C2410C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0534650" y="21717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7F5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962900" y="42481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0858500" y="22288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>你在这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286750" y="42862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2410C"/>
                </a:solidFill>
                <a:latin typeface="Microsoft YaHei"/>
                <a:ea typeface="Microsoft YaHei"/>
              </a:rPr>
              <a:t>它在这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295275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0 1 ·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问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523875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4161A"/>
                </a:solidFill>
                <a:latin typeface="Microsoft YaHei"/>
                <a:ea typeface="Microsoft YaHei"/>
              </a:rPr>
              <a:t>推荐越准，你越窄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11049000" cy="1333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14161A"/>
                </a:solidFill>
                <a:latin typeface="Microsoft YaHei"/>
                <a:ea typeface="Microsoft YaHei"/>
              </a:rPr>
              <a:t>所有产品都在回答</a:t>
            </a:r>
            <a:endParaRPr/>
          </a:p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2F5BE4"/>
                </a:solidFill>
                <a:latin typeface="Microsoft YaHei"/>
                <a:ea typeface="Microsoft YaHei"/>
              </a:rPr>
              <a:t>「你还想要什么」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71500" y="2533650"/>
            <a:ext cx="11049000" cy="666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14161A">
                    <a:alpha val="38000"/>
                  </a:srgbClr>
                </a:solidFill>
                <a:latin typeface="Microsoft YaHei"/>
                <a:ea typeface="Microsoft YaHei"/>
              </a:rPr>
              <a:t>没有人回答「你漏了什么」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71500" y="3619500"/>
            <a:ext cx="11049000" cy="19050"/>
          </a:xfrm>
          <a:custGeom>
            <a:pathLst>
              <a:path w="1160" h="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71500" y="3629025"/>
            <a:ext cx="11049000" cy="819150"/>
          </a:xfrm>
          <a:custGeom>
            <a:pathLst>
              <a:path w="1160" h="86">
                <a:moveTo>
                  <a:pt x="0" y="85"/>
                </a:moveTo>
                <a:lnTo>
                  <a:pt x="1160" y="85"/>
                </a:lnTo>
                <a:lnTo>
                  <a:pt x="1160" y="86"/>
                </a:lnTo>
                <a:lnTo>
                  <a:pt x="0" y="86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3838575"/>
            <a:ext cx="60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2410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81100" y="3838575"/>
            <a:ext cx="10439400" cy="381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75">
                <a:solidFill>
                  <a:srgbClr val="14161A"/>
                </a:solidFill>
                <a:latin typeface="Microsoft YaHei"/>
                <a:ea typeface="Microsoft YaHei"/>
              </a:rPr>
              <a:t>平台的优化目标是</a:t>
            </a:r>
            <a:r>
              <a:rPr lang="zh-CN" sz="1575" b="1">
                <a:solidFill>
                  <a:srgbClr val="14161A"/>
                </a:solidFill>
                <a:latin typeface="Microsoft YaHei"/>
                <a:ea typeface="Microsoft YaHei"/>
              </a:rPr>
              <a:t>停留时长</a:t>
            </a:r>
            <a:r>
              <a:rPr lang="zh-CN" sz="1575">
                <a:solidFill>
                  <a:srgbClr val="14161A"/>
                </a:solidFill>
                <a:latin typeface="Microsoft YaHei"/>
                <a:ea typeface="Microsoft YaHei"/>
              </a:rPr>
              <a:t>，不是你的判断质量。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71500" y="4438650"/>
            <a:ext cx="11049000" cy="819150"/>
          </a:xfrm>
          <a:custGeom>
            <a:pathLst>
              <a:path w="1160" h="86">
                <a:moveTo>
                  <a:pt x="0" y="85"/>
                </a:moveTo>
                <a:lnTo>
                  <a:pt x="1160" y="85"/>
                </a:lnTo>
                <a:lnTo>
                  <a:pt x="1160" y="86"/>
                </a:lnTo>
                <a:lnTo>
                  <a:pt x="0" y="86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4648200"/>
            <a:ext cx="60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2410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81100" y="4648200"/>
            <a:ext cx="10439400" cy="381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75">
                <a:solidFill>
                  <a:srgbClr val="14161A"/>
                </a:solidFill>
                <a:latin typeface="Microsoft YaHei"/>
                <a:ea typeface="Microsoft YaHei"/>
              </a:rPr>
              <a:t>你关注微服务，它就只给你微服务；你相信</a:t>
            </a:r>
            <a:r>
              <a:rPr lang="en-US" sz="1575">
                <a:solidFill>
                  <a:srgbClr val="14161A"/>
                </a:solidFill>
                <a:latin typeface="Microsoft YaHei"/>
                <a:ea typeface="Microsoft YaHei"/>
              </a:rPr>
              <a:t xml:space="preserve"> TDD</a:t>
            </a:r>
            <a:r>
              <a:rPr lang="zh-CN" sz="1575">
                <a:solidFill>
                  <a:srgbClr val="14161A"/>
                </a:solidFill>
                <a:latin typeface="Microsoft YaHei"/>
                <a:ea typeface="Microsoft YaHei"/>
              </a:rPr>
              <a:t>，它就只给你</a:t>
            </a:r>
            <a:r>
              <a:rPr lang="en-US" sz="1575">
                <a:solidFill>
                  <a:srgbClr val="14161A"/>
                </a:solidFill>
                <a:latin typeface="Microsoft YaHei"/>
                <a:ea typeface="Microsoft YaHei"/>
              </a:rPr>
              <a:t xml:space="preserve"> TDD </a:t>
            </a:r>
            <a:r>
              <a:rPr lang="zh-CN" sz="1575">
                <a:solidFill>
                  <a:srgbClr val="14161A"/>
                </a:solidFill>
                <a:latin typeface="Microsoft YaHei"/>
                <a:ea typeface="Microsoft YaHei"/>
              </a:rPr>
              <a:t>的成功案例。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1500" y="5457825"/>
            <a:ext cx="60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2410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81100" y="5457825"/>
            <a:ext cx="10439400" cy="381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75">
                <a:solidFill>
                  <a:srgbClr val="14161A"/>
                </a:solidFill>
                <a:latin typeface="Microsoft YaHei"/>
                <a:ea typeface="Microsoft YaHei"/>
              </a:rPr>
              <a:t>真正的盲区不会自己出现</a:t>
            </a:r>
            <a:r>
              <a:rPr lang="en-US" sz="1575">
                <a:solidFill>
                  <a:srgbClr val="14161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75">
                <a:solidFill>
                  <a:srgbClr val="14161A"/>
                </a:solidFill>
                <a:latin typeface="Microsoft YaHei"/>
                <a:ea typeface="Microsoft YaHei"/>
              </a:rPr>
              <a:t>因为它不在你的兴趣画像里。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ANTIPODE · TECHATHON 2026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02 / 09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1500" y="295275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0 2 ·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设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计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判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断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523875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4161A"/>
                </a:solidFill>
                <a:latin typeface="Microsoft YaHei"/>
                <a:ea typeface="Microsoft YaHei"/>
              </a:rPr>
              <a:t>「相反」不是一种东西，是三种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1104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不先把它们分开，反仓库必然退化成「杠精池」。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571500" y="1638300"/>
            <a:ext cx="3552825" cy="381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71500" y="1609725"/>
            <a:ext cx="3552825" cy="3848100"/>
          </a:xfrm>
          <a:custGeom>
            <a:pathLst>
              <a:path w="373" h="404">
                <a:moveTo>
                  <a:pt x="0" y="0"/>
                </a:moveTo>
                <a:lnTo>
                  <a:pt x="373" y="0"/>
                </a:lnTo>
                <a:lnTo>
                  <a:pt x="373" y="3"/>
                </a:lnTo>
                <a:lnTo>
                  <a:pt x="0" y="3"/>
                </a:lnTo>
                <a:close/>
              </a:path>
            </a:pathLst>
          </a:custGeom>
          <a:solidFill>
            <a:srgbClr val="2F5BE4"/>
          </a:solidFill>
          <a:ln/>
        </p:spPr>
        <p:txBody>
          <a:bodyPr/>
          <a:p>
            <a:pPr/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19150" y="1866900"/>
            <a:ext cx="30575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F5BE4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19150" y="2647950"/>
            <a:ext cx="30575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4161A"/>
                </a:solidFill>
                <a:latin typeface="Microsoft YaHei"/>
                <a:ea typeface="Microsoft YaHei"/>
              </a:rPr>
              <a:t>观点对立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19150" y="3009900"/>
            <a:ext cx="3057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同议题、反立场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19150" y="3514725"/>
            <a:ext cx="3057525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4161A"/>
                </a:solidFill>
                <a:latin typeface="Microsoft YaHei"/>
                <a:ea typeface="Microsoft YaHei"/>
              </a:rPr>
              <a:t>你信微服务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14161A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425">
                <a:solidFill>
                  <a:srgbClr val="14161A"/>
                </a:solidFill>
                <a:latin typeface="Microsoft YaHei"/>
                <a:ea typeface="Microsoft YaHei"/>
              </a:rPr>
              <a:t>找到「我们把微服务拆回单体」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19150" y="4895850"/>
            <a:ext cx="3057525" cy="342900"/>
          </a:xfrm>
          <a:custGeom>
            <a:pathLst>
              <a:path w="321" h="36">
                <a:moveTo>
                  <a:pt x="0" y="0"/>
                </a:moveTo>
                <a:lnTo>
                  <a:pt x="321" y="0"/>
                </a:lnTo>
                <a:lnTo>
                  <a:pt x="321" y="1"/>
                </a:lnTo>
                <a:lnTo>
                  <a:pt x="0" y="1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19150" y="505777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5BE4"/>
                </a:solidFill>
                <a:latin typeface="Microsoft YaHei"/>
                <a:ea typeface="Microsoft YaHei"/>
              </a:rPr>
              <a:t>本期已实现并跑通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314825" y="1638300"/>
            <a:ext cx="3562350" cy="3819525"/>
          </a:xfrm>
          <a:prstGeom prst="rect">
            <a:avLst/>
          </a:prstGeom>
          <a:solidFill>
            <a:srgbClr val="14161A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314825" y="1609725"/>
            <a:ext cx="3562350" cy="3848100"/>
          </a:xfrm>
          <a:custGeom>
            <a:pathLst>
              <a:path w="374" h="404">
                <a:moveTo>
                  <a:pt x="0" y="0"/>
                </a:moveTo>
                <a:lnTo>
                  <a:pt x="374" y="0"/>
                </a:lnTo>
                <a:lnTo>
                  <a:pt x="374" y="3"/>
                </a:lnTo>
                <a:lnTo>
                  <a:pt x="0" y="3"/>
                </a:lnTo>
                <a:close/>
              </a:path>
            </a:pathLst>
          </a:custGeom>
          <a:solidFill>
            <a:srgbClr val="14161A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562475" y="1866900"/>
            <a:ext cx="30670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4161A">
                    <a:alpha val="30000"/>
                  </a:srgbClr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562475" y="2647950"/>
            <a:ext cx="306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4161A">
                    <a:alpha val="72000"/>
                  </a:srgbClr>
                </a:solidFill>
                <a:latin typeface="Microsoft YaHei"/>
                <a:ea typeface="Microsoft YaHei"/>
              </a:rPr>
              <a:t>反向证据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62475" y="3009900"/>
            <a:ext cx="3067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4161A">
                    <a:alpha val="45000"/>
                  </a:srgbClr>
                </a:solidFill>
                <a:latin typeface="Microsoft YaHei"/>
                <a:ea typeface="Microsoft YaHei"/>
              </a:rPr>
              <a:t>反驳你结论的具体事实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562475" y="3514725"/>
            <a:ext cx="306705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你信「微服务＝高可用」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找到「因微服务故障</a:t>
            </a:r>
            <a:r>
              <a:rPr lang="en-US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小时」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562475" y="4895850"/>
            <a:ext cx="3067050" cy="342900"/>
          </a:xfrm>
          <a:custGeom>
            <a:pathLst>
              <a:path w="322" h="36">
                <a:moveTo>
                  <a:pt x="0" y="0"/>
                </a:moveTo>
                <a:lnTo>
                  <a:pt x="322" y="0"/>
                </a:lnTo>
                <a:lnTo>
                  <a:pt x="322" y="1"/>
                </a:lnTo>
                <a:lnTo>
                  <a:pt x="0" y="1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562475" y="5057775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数据模型已留位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067675" y="1638300"/>
            <a:ext cx="3552825" cy="3819525"/>
          </a:xfrm>
          <a:prstGeom prst="rect">
            <a:avLst/>
          </a:prstGeom>
          <a:solidFill>
            <a:srgbClr val="14161A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067675" y="1609725"/>
            <a:ext cx="3552825" cy="3848100"/>
          </a:xfrm>
          <a:custGeom>
            <a:pathLst>
              <a:path w="373" h="404">
                <a:moveTo>
                  <a:pt x="0" y="0"/>
                </a:moveTo>
                <a:lnTo>
                  <a:pt x="373" y="0"/>
                </a:lnTo>
                <a:lnTo>
                  <a:pt x="373" y="3"/>
                </a:lnTo>
                <a:lnTo>
                  <a:pt x="0" y="3"/>
                </a:lnTo>
                <a:close/>
              </a:path>
            </a:pathLst>
          </a:custGeom>
          <a:solidFill>
            <a:srgbClr val="14161A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15325" y="1866900"/>
            <a:ext cx="30575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4161A">
                    <a:alpha val="30000"/>
                  </a:srgbClr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315325" y="2647950"/>
            <a:ext cx="30575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4161A">
                    <a:alpha val="72000"/>
                  </a:srgbClr>
                </a:solidFill>
                <a:latin typeface="Microsoft YaHei"/>
                <a:ea typeface="Microsoft YaHei"/>
              </a:rPr>
              <a:t>视野缺失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15325" y="3009900"/>
            <a:ext cx="3057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4161A">
                    <a:alpha val="45000"/>
                  </a:srgbClr>
                </a:solidFill>
                <a:latin typeface="Microsoft YaHei"/>
                <a:ea typeface="Microsoft YaHei"/>
              </a:rPr>
              <a:t>你完全没覆盖的相邻议题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15325" y="3514725"/>
            <a:ext cx="3057525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你只看微服务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提示</a:t>
            </a:r>
            <a:r>
              <a:rPr lang="en-US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 xml:space="preserve"> Serverless </a:t>
            </a: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这条路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8315325" y="4895850"/>
            <a:ext cx="3057525" cy="342900"/>
          </a:xfrm>
          <a:custGeom>
            <a:pathLst>
              <a:path w="321" h="36">
                <a:moveTo>
                  <a:pt x="0" y="0"/>
                </a:moveTo>
                <a:lnTo>
                  <a:pt x="321" y="0"/>
                </a:lnTo>
                <a:lnTo>
                  <a:pt x="321" y="1"/>
                </a:lnTo>
                <a:lnTo>
                  <a:pt x="0" y="1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15325" y="505777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数据模型已留位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ANTIPODE · TECHATHON 2026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style={{ width: 1280, height: 720, background: '#14161A', padding: '0px' }}&gt;&#13;&#10;    &lt;Box style={{ position: 'relative', width: 1280, height: 720, padding: '20px 60px' }}&gt;&#13;&#10;&#13;&#10;        {/* A 标题块 */}&#13;&#10;        &lt;Box style={{ height: 100, flexDirection: 'row', justifyContent: 'space-between', alignItems: 'center' }}&gt;&#13;&#10;            &lt;Box style={{ flexDirection: 'column', justifyContent: 'center' }}&gt;&#13;&#10;                &lt;Text style={{ fontSize: 13, letterSpacing: 3, color: 'rgba(247,245,240,0.45)', marginBottom: 8 }}&gt;0 3 · 产 品 形 态&lt;/Text&gt;&#13;&#10;                &lt;Text style={{ fontSize: 36, fontWeight: 'bold', color: '#F7F5F0', lineHeight: 1.25 }}&gt;一个库，两栏&lt;/Text&gt;&#13;&#10;            &lt;/Box&gt;&#13;&#10;            &lt;Box style={{ flexDirection: 'row', alignItems: 'center', gap: 12 }}&gt;&#13;&#10;                &lt;Text style={{ fontSize: 15, color: 'rgba(247,245,240,0.55)' }}&gt;反推荐&lt;/Text&gt;&#13;&#10;                &lt;Box style={{ width: 56, height: 30, borderRadius: 15, background: '#2F5BE4', flexDirection: 'row', justifyContent: 'flex-end', alignItems: 'center', padding: '0px 4px' }}&gt;&#13;&#10;                    &lt;Box style={{ width: 22, height: 22, borderRadius: 11, background: '#F7F5F0' }} /&gt;&#13;&#10;                &lt;/Box&gt;&#13;&#10;                &lt;Text style={{ fontSize: 15, fontWeight: 'bold', color: '#2F5BE4' }}&gt;开&lt;/Text&gt;&#13;&#10;            &lt;/Box&gt;&#13;&#10;        &lt;/Box&gt;&#13;&#10;&#13;&#10;        {/* B 内容区：双栏 */}&#13;&#10;        &lt;Box style={{ height: 470, flexDirection: 'row', gap: 34 }}&gt;&#13;&#10;&#13;&#10;            {/* 左：仓库 */}&#13;&#10;            &lt;Box style={{ width: 500, flexDirection: 'column' }}&gt;&#13;&#10;                &lt;Box style={{ flexDirection: 'row', alignItems: 'baseline', gap: 10, marginBottom: 12 }}&gt;&#13;&#10;                    &lt;Text style={{ fontSize: 20, fontWeight: 'bold', color: 'rgba(247,245,240,0.75)' }}&gt;仓库&lt;/Text&gt;&#13;&#10;                    &lt;Text style={{ fontSize: 14, color: 'rgba(247,245,240,0.35)' }}&gt;客户主页 + 账号读出 · 已省流&lt;/Text&gt;&#13;&#10;                &lt;/Box&gt;&#13;&#10;&#13;&#10;                &lt;Box style={{ background: 'rgba(247,245,240,0.06)', border: '1px solid rgba(247,245,240,0.10)', borderRadius: 10, padding: '13px 16px', marginBottom: 10 }}&gt;&#13;&#10;                    &lt;Text style={{ fontSize: 17, fontWeight: 'bold', color: '#F7F5F0', lineHeight: 1.4 }}&gt;我们把单体拆成微服务，两年后的复盘&lt;/Text&gt;&#13;&#10;                    &lt;Text style={{ fontSize: 13, color: 'rgba(247,245,240,0.42)', marginTop: 5 }}&gt;支持 · 微服务　｜　微服务 vs 单体&lt;/Text&gt;&#13;&#10;                    &lt;Text style={{ fontSize: 14, color: 'rgba(247,245,240,0.62)', marginTop: 7, lineHeight: 1.5 }}&gt;拆出七个服务后可独立发布、新人上手更快，作者结论是值得。&lt;/Text&gt;&#13;&#10;                &lt;/Box&gt;&#13;&#10;&#13;&#10;                &lt;Box style={{ background: 'rgba(247,245,240,0.06)', border: '1px solid rgba(247,245,240,0.10)', borderRadius: 10, padding: '13px 16px', marginBottom: 10 }}&gt;&#13;&#10;                    &lt;Text style={{ fontSize: 17, fontWeight: 'bold', color: '#F7F5F0', lineHeight: 1.4 }}&gt;坚持 TDD 三年，我的真实体会&lt;/Text&gt;&#13;&#10;                    &lt;Text style={{ fontSize: 13, color: 'rgba(247,245,240,0.42)', marginTop: 5 }}&gt;支持 · 先写测试　｜　测试驱动开发是否必要&lt;/Text&gt;&#13;&#10;                    &lt;Text style={{ fontSize: 14, color: 'rgba(247,245,240,0.62)', marginTop: 7, lineHeight: 1.5 }}&gt;回归缺陷从每月四五个降到一年两三个，作者认为长期回本。&lt;/Text&gt;&#13;&#10;                &lt;/Box&gt;&#13;&#10;&#13;&#10;                &lt;Box style={{ background: 'rgba(247,245,240,0.06)', border: '1px solid rgba(247,245,240,0.10)', borderRadius: 10, padding: '13px 16px' }}&gt;&#13;&#10;                    &lt;Text style={{ fontSize: 17, fontWeight: 'bold', color: '#F7F5F0', lineHeight: 1.4 }}&gt;为什么我们最终选了 React&lt;/Text&gt;&#13;&#10;                    &lt;Text style={{ fontSize: 13, color: 'rgba(247,245,240,0.42)', marginTop: 5 }}&gt;支持 · React　｜　React vs Vue&lt;/Text&gt;&#13;&#10;                    &lt;Text style={{ fontSize: 14, color: 'rgba(247,245,240,0.62)', marginTop: 7, lineHeight: 1.5 }}&gt;生态与招人成本最终压过了框架本身的手感差异。&lt;/Text&gt;&#13;&#10;                &lt;/Box&gt;&#13;&#10;            &lt;/Box&gt;&#13;&#10;&#13;&#10;            {/* 中：箭头 */}&#13;&#10;            &lt;Box style={{ width: 40, justifyContent: 'center', alignItems: 'center' }}&gt;&#13;&#10;                &lt;Text style={{ fontSize: 22, color: 'rgba(247,245,240,0.25)' }}&gt;→&lt;/Text&gt;&#13;&#10;            &lt;/Box&gt;&#13;&#10;&#13;&#10;            {/* 右：反仓库 */}&#13;&#10;            &lt;Box style={{ width: 520, flexDirection: 'column' }}&gt;&#13;&#10;                &lt;Box style={{ flexDirection: 'row', alignItems: 'baseline', gap: 10, marginBottom: 12 }}&gt;&#13;&#10;                    &lt;Text style={{ fontSize: 20, fontWeight: 'bold', color: '#C2410C' }}&gt;反仓库&lt;/Text&gt;&#13;&#10;                    &lt;Text style={{ fontSize: 14, color: 'rgba(247,245,240,0.35)' }}&gt;同议题、反立场、带原文出处&lt;/Text&gt;&#13;&#10;                &lt;/Box&gt;&#13;&#10;&#13;&#10;                &lt;Box style={{ background: 'rgba(247,245,240,0.06)', borderLeft: '3px solid #C2410C', borderRadius: 10, padding: '12px 16px', marginBottom: 9 }}&gt;&#13;&#10;                    &lt;Text style={{ fontSize: 16, fontWeight: 'bold', color: '#F7F5F0', lineHeight: 1.4 }}&gt;从微服务走向单体化&lt;/Text&gt;&#13;&#10;                    &lt;Text style={{ fontSize: 12.5, color: 'rgba(247,245,240,0.48)', marginTop: 4 }}&gt;站 · 单体　｜　对立度 0.95　｜　v2ex.com&lt;/Text&gt;&#13;&#10;                    &lt;Text style={{ fontSize: 13.5, color: 'rgba(247,245,240,0.58)', marginTop: 6, lineHeight: 1.5 }}&gt;「CEO 觉得微服务部署极其繁琐……要求把十来个微服务合并成一个。」&lt;/Text&gt;&#13;&#10;                &lt;/Box&gt;&#13;&#10;&#13;&#10;                &lt;Box style={{ background: 'rgba(247,245,240,0.06)', borderLeft: '3px solid #C2410C', borderRadius: 10, padding: '12px 16px', marginBottom: 9 }}&gt;&#13;&#10;                    &lt;Text style={{ fontSize: 16, fontWeight: 'bold', color: '#F7F5F0', lineHeight: 1.4 }}&gt;微服务的缺点&lt;/Text&gt;&#13;&#10;                    &lt;Text style={{ fontSize: 12.5, color: 'rgba(247,245,240,0.48)', marginTop: 4 }}&gt;站 · 单体　｜　对立度 0.95　｜　v2ex.com&lt;/Text&gt;&#13;&#10;                    &lt;Text style={{ fontSize: 13.5, color: 'rgba(247,245,240,0.58)', marginTop: 6, lineHeight: 1.5 }}&gt;「网络调用过多、运维成本高、易瘫痪」—— 与「高可用」叙事正面冲突。&lt;/Text&gt;&#13;&#10;                &lt;/Box&gt;&#13;&#10;&#13;&#10;                &lt;Box style={{ background: 'rgba(247,245,240,0.06)', borderLeft: '3px solid #C2410C', borderRadius: 10, padding: '12px 16px' }}&gt;&#13;&#10;                    &lt;Text style={{ fontSize: 16, fontWeight: 'bold', color: '#F7F5F0', lineHeight: 1.4 }}&gt;经技术选型研究，我们放弃了 React，转向 Vue&lt;/Text&gt;&#13;&#10;                    &lt;Text style={{ fontSize: 12.5, color: 'rgba(247,245,240,0.48)', marginTop: 4 }}&gt;站 · Vue　｜　对立度 1.00　｜　v2ex.com&lt;/Text&gt;&#13;&#10;                    &lt;Text style={{ fontSize: 13.5, color: 'rgba(247,245,240,0.58)', marginTop: 6, lineHeight: 1.5 }}&gt;同一个选型问题，相反结论 —— 而且是作者亲历的项目复盘。&lt;/Text&gt;&#13;&#10;                &lt;/Box&gt;&#13;&#10;            &lt;/Box&gt;&#13;&#10;        &lt;/Box&gt;&#13;&#10;&#13;&#10;        {/* 底部说明 */}&#13;&#10;        &lt;Box style={{ position: 'absolute', left: 60, right: 60, bottom: 58, flexDirection: 'row', justifyContent: 'space-between', alignItems: 'center' }}&gt;&#13;&#10;            &lt;Text style={{ fontSize: 15, color: 'rgba(247,245,240,0.55)' }}&gt;&#13;&#10;                反库物理独立存放，靠条目 id 与原条目对应 —— 不是「混在信息流里推点反对意见」&#13;&#10;            &lt;/Text&gt;&#13;&#10;            &lt;Text style={{ fontSize: 15, color: '#C2410C' }}&gt;每条都能点回原文&lt;/Text&gt;&#13;&#10;        &lt;/Box&gt;&#13;&#10;&#13;&#10;        &lt;Box style={{ position: 'absolute', left: 60, right: 60, bottom: 20, flexDirection: 'row', justifyContent: 'space-between' }}&gt;&#13;&#10;            &lt;Text style={{ fontSize: 13, color: 'rgba(247,245,240,0.30)' }}&gt;ANTIPODE · TECHATHON 2026&lt;/Text&gt;&#13;&#10;            &lt;Text style={{ fontSize: 13, color: 'rgba(247,245,240,0.30)' }}&gt;04 / 09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4161A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295275"/>
            <a:ext cx="205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 xml:space="preserve">0 3 · </a:t>
            </a:r>
            <a:r>
              <a:rPr lang="zh-CN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产</a:t>
            </a:r>
            <a:r>
              <a:rPr lang="en-US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品</a:t>
            </a:r>
            <a:r>
              <a:rPr lang="en-US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形</a:t>
            </a:r>
            <a:r>
              <a:rPr lang="en-US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态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523875"/>
            <a:ext cx="20574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7F5F0"/>
                </a:solidFill>
                <a:latin typeface="Microsoft YaHei"/>
                <a:ea typeface="Microsoft YaHei"/>
              </a:rPr>
              <a:t>一个库，两栏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287000" y="5810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>反推荐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10829925" y="523875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2F5BE4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11115675" y="5619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7F5F0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477625" y="5810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5BE4"/>
                </a:solidFill>
                <a:latin typeface="Microsoft YaHei"/>
                <a:ea typeface="Microsoft YaHei"/>
              </a:rPr>
              <a:t>开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7F5F0">
                    <a:alpha val="75000"/>
                  </a:srgbClr>
                </a:solidFill>
                <a:latin typeface="Microsoft YaHei"/>
                <a:ea typeface="Microsoft YaHei"/>
              </a:rPr>
              <a:t>仓库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47750" y="1143000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5F0">
                    <a:alpha val="35000"/>
                  </a:srgbClr>
                </a:solidFill>
                <a:latin typeface="Microsoft YaHei"/>
                <a:ea typeface="Microsoft YaHei"/>
              </a:rPr>
              <a:t>客户主页</a:t>
            </a:r>
            <a:r>
              <a:rPr lang="en-US" sz="1050">
                <a:solidFill>
                  <a:srgbClr val="F7F5F0">
                    <a:alpha val="35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F7F5F0">
                    <a:alpha val="35000"/>
                  </a:srgbClr>
                </a:solidFill>
                <a:latin typeface="Microsoft YaHei"/>
                <a:ea typeface="Microsoft YaHei"/>
              </a:rPr>
              <a:t>账号读出</a:t>
            </a:r>
            <a:r>
              <a:rPr lang="en-US" sz="1050">
                <a:solidFill>
                  <a:srgbClr val="F7F5F0">
                    <a:alpha val="3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7F5F0">
                    <a:alpha val="35000"/>
                  </a:srgbClr>
                </a:solidFill>
                <a:latin typeface="Microsoft YaHei"/>
                <a:ea typeface="Microsoft YaHei"/>
              </a:rPr>
              <a:t>已省流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71500" y="1485900"/>
            <a:ext cx="4762500" cy="1038225"/>
          </a:xfrm>
          <a:prstGeom prst="roundRect">
            <a:avLst>
              <a:gd name="adj" fmla="val 9174"/>
            </a:avLst>
          </a:prstGeom>
          <a:solidFill>
            <a:srgbClr val="F7F5F0">
              <a:alpha val="6000"/>
            </a:srgbClr>
          </a:solidFill>
          <a:ln w="12700">
            <a:solidFill>
              <a:srgbClr val="F7F5F0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23900" y="1609725"/>
            <a:ext cx="44577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F7F5F0"/>
                </a:solidFill>
                <a:latin typeface="Microsoft YaHei"/>
                <a:ea typeface="Microsoft YaHei"/>
              </a:rPr>
              <a:t>我们把单体拆成微服务，两年后的复盘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23900" y="193357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支持</a:t>
            </a:r>
            <a:r>
              <a:rPr lang="en-US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微服务　｜　微服务</a:t>
            </a:r>
            <a:r>
              <a:rPr lang="en-US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单体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3900" y="2152650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拆出七个服务后可独立发布、新人上手更快，作者结论是值得。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71500" y="2619375"/>
            <a:ext cx="4762500" cy="1038225"/>
          </a:xfrm>
          <a:prstGeom prst="roundRect">
            <a:avLst>
              <a:gd name="adj" fmla="val 9174"/>
            </a:avLst>
          </a:prstGeom>
          <a:solidFill>
            <a:srgbClr val="F7F5F0">
              <a:alpha val="6000"/>
            </a:srgbClr>
          </a:solidFill>
          <a:ln w="12700">
            <a:solidFill>
              <a:srgbClr val="F7F5F0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23900" y="2743200"/>
            <a:ext cx="44577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F7F5F0"/>
                </a:solidFill>
                <a:latin typeface="Microsoft YaHei"/>
                <a:ea typeface="Microsoft YaHei"/>
              </a:rPr>
              <a:t>坚持</a:t>
            </a:r>
            <a:r>
              <a:rPr lang="en-US" sz="1275" b="1">
                <a:solidFill>
                  <a:srgbClr val="F7F5F0"/>
                </a:solidFill>
                <a:latin typeface="Microsoft YaHei"/>
                <a:ea typeface="Microsoft YaHei"/>
              </a:rPr>
              <a:t xml:space="preserve"> TDD </a:t>
            </a:r>
            <a:r>
              <a:rPr lang="zh-CN" sz="1275" b="1">
                <a:solidFill>
                  <a:srgbClr val="F7F5F0"/>
                </a:solidFill>
                <a:latin typeface="Microsoft YaHei"/>
                <a:ea typeface="Microsoft YaHei"/>
              </a:rPr>
              <a:t>三年，我的真实体会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23900" y="306705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支持</a:t>
            </a:r>
            <a:r>
              <a:rPr lang="en-US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先写测试　｜　测试驱动开发是否必要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23900" y="3286125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回归缺陷从每月四五个降到一年两三个，作者认为长期回本。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3752850"/>
            <a:ext cx="4762500" cy="1038225"/>
          </a:xfrm>
          <a:prstGeom prst="roundRect">
            <a:avLst>
              <a:gd name="adj" fmla="val 9174"/>
            </a:avLst>
          </a:prstGeom>
          <a:solidFill>
            <a:srgbClr val="F7F5F0">
              <a:alpha val="6000"/>
            </a:srgbClr>
          </a:solidFill>
          <a:ln w="12700">
            <a:solidFill>
              <a:srgbClr val="F7F5F0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23900" y="3876675"/>
            <a:ext cx="44577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F7F5F0"/>
                </a:solidFill>
                <a:latin typeface="Microsoft YaHei"/>
                <a:ea typeface="Microsoft YaHei"/>
              </a:rPr>
              <a:t>为什么我们最终选了</a:t>
            </a:r>
            <a:r>
              <a:rPr lang="en-US" sz="1275" b="1">
                <a:solidFill>
                  <a:srgbClr val="F7F5F0"/>
                </a:solidFill>
                <a:latin typeface="Microsoft YaHei"/>
                <a:ea typeface="Microsoft YaHei"/>
              </a:rPr>
              <a:t xml:space="preserve"> React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23900" y="420052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支持</a:t>
            </a:r>
            <a:r>
              <a:rPr lang="en-US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 xml:space="preserve"> · React</a:t>
            </a:r>
            <a:r>
              <a:rPr lang="zh-CN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　｜　</a:t>
            </a:r>
            <a:r>
              <a:rPr lang="en-US" sz="975">
                <a:solidFill>
                  <a:srgbClr val="F7F5F0">
                    <a:alpha val="42000"/>
                  </a:srgbClr>
                </a:solidFill>
                <a:latin typeface="Microsoft YaHei"/>
                <a:ea typeface="Microsoft YaHei"/>
              </a:rPr>
              <a:t>React vs Vue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23900" y="4419600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生态与招人成本最终压过了框架本身的手感差异。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43575" y="32575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F7F5F0">
                    <a:alpha val="25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362700" y="11430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2410C"/>
                </a:solidFill>
                <a:latin typeface="Microsoft YaHei"/>
                <a:ea typeface="Microsoft YaHei"/>
              </a:rPr>
              <a:t>反仓库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029450" y="1143000"/>
            <a:ext cx="1733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5F0">
                    <a:alpha val="35000"/>
                  </a:srgbClr>
                </a:solidFill>
                <a:latin typeface="Microsoft YaHei"/>
                <a:ea typeface="Microsoft YaHei"/>
              </a:rPr>
              <a:t>同议题、反立场、带原文出处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391275" y="1485900"/>
            <a:ext cx="4953000" cy="962025"/>
          </a:xfrm>
          <a:prstGeom prst="roundRect">
            <a:avLst>
              <a:gd name="adj" fmla="val 9901"/>
            </a:avLst>
          </a:prstGeom>
          <a:solidFill>
            <a:srgbClr val="F7F5F0">
              <a:alpha val="6000"/>
            </a:srgbClr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391275" y="1485900"/>
            <a:ext cx="4953000" cy="962025"/>
          </a:xfrm>
          <a:custGeom>
            <a:pathLst>
              <a:path w="520" h="101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94"/>
                </a:lnTo>
                <a:cubicBezTo>
                  <a:pt x="3" y="97"/>
                  <a:pt x="5" y="100"/>
                  <a:pt x="8" y="101"/>
                </a:cubicBezTo>
                <a:cubicBezTo>
                  <a:pt x="3" y="100"/>
                  <a:pt x="0" y="96"/>
                  <a:pt x="0" y="9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543675" y="1600200"/>
            <a:ext cx="46196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F7F5F0"/>
                </a:solidFill>
                <a:latin typeface="Microsoft YaHei"/>
                <a:ea typeface="Microsoft YaHei"/>
              </a:rPr>
              <a:t>从微服务走向单体化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543675" y="1895475"/>
            <a:ext cx="461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站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单体　｜　对立度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 xml:space="preserve"> 0.95</a:t>
            </a: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　｜　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v2ex.com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543675" y="2095500"/>
            <a:ext cx="46196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>「</a:t>
            </a:r>
            <a:r>
              <a:rPr lang="en-US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 xml:space="preserve">CEO </a:t>
            </a:r>
            <a:r>
              <a:rPr lang="zh-CN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>觉得微服务部署极其繁琐……要求把十来个微服务合并成一个。」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391275" y="2533650"/>
            <a:ext cx="4953000" cy="962025"/>
          </a:xfrm>
          <a:prstGeom prst="roundRect">
            <a:avLst>
              <a:gd name="adj" fmla="val 9901"/>
            </a:avLst>
          </a:prstGeom>
          <a:solidFill>
            <a:srgbClr val="F7F5F0">
              <a:alpha val="6000"/>
            </a:srgbClr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6391275" y="2533650"/>
            <a:ext cx="4953000" cy="962025"/>
          </a:xfrm>
          <a:custGeom>
            <a:pathLst>
              <a:path w="520" h="101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94"/>
                </a:lnTo>
                <a:cubicBezTo>
                  <a:pt x="3" y="97"/>
                  <a:pt x="5" y="100"/>
                  <a:pt x="8" y="101"/>
                </a:cubicBezTo>
                <a:cubicBezTo>
                  <a:pt x="3" y="100"/>
                  <a:pt x="0" y="96"/>
                  <a:pt x="0" y="9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543675" y="2647950"/>
            <a:ext cx="46196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F7F5F0"/>
                </a:solidFill>
                <a:latin typeface="Microsoft YaHei"/>
                <a:ea typeface="Microsoft YaHei"/>
              </a:rPr>
              <a:t>微服务的缺点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543675" y="2943225"/>
            <a:ext cx="461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站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单体　｜　对立度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 xml:space="preserve"> 0.95</a:t>
            </a: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　｜　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v2ex.com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543675" y="3143250"/>
            <a:ext cx="46196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>「网络调用过多、运维成本高、易瘫痪」——</a:t>
            </a:r>
            <a:r>
              <a:rPr lang="en-US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>与「高可用」叙事正面冲突。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391275" y="3581400"/>
            <a:ext cx="4953000" cy="962025"/>
          </a:xfrm>
          <a:prstGeom prst="roundRect">
            <a:avLst>
              <a:gd name="adj" fmla="val 9901"/>
            </a:avLst>
          </a:prstGeom>
          <a:solidFill>
            <a:srgbClr val="F7F5F0">
              <a:alpha val="6000"/>
            </a:srgbClr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391275" y="3581400"/>
            <a:ext cx="4953000" cy="962025"/>
          </a:xfrm>
          <a:custGeom>
            <a:pathLst>
              <a:path w="520" h="101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94"/>
                </a:lnTo>
                <a:cubicBezTo>
                  <a:pt x="3" y="97"/>
                  <a:pt x="5" y="100"/>
                  <a:pt x="8" y="101"/>
                </a:cubicBezTo>
                <a:cubicBezTo>
                  <a:pt x="3" y="100"/>
                  <a:pt x="0" y="96"/>
                  <a:pt x="0" y="9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543675" y="3695700"/>
            <a:ext cx="46196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F7F5F0"/>
                </a:solidFill>
                <a:latin typeface="Microsoft YaHei"/>
                <a:ea typeface="Microsoft YaHei"/>
              </a:rPr>
              <a:t>经技术选型研究，我们放弃了</a:t>
            </a:r>
            <a:r>
              <a:rPr lang="en-US" sz="1200" b="1">
                <a:solidFill>
                  <a:srgbClr val="F7F5F0"/>
                </a:solidFill>
                <a:latin typeface="Microsoft YaHei"/>
                <a:ea typeface="Microsoft YaHei"/>
              </a:rPr>
              <a:t xml:space="preserve"> React</a:t>
            </a:r>
            <a:r>
              <a:rPr lang="zh-CN" sz="1200" b="1">
                <a:solidFill>
                  <a:srgbClr val="F7F5F0"/>
                </a:solidFill>
                <a:latin typeface="Microsoft YaHei"/>
                <a:ea typeface="Microsoft YaHei"/>
              </a:rPr>
              <a:t>，转向</a:t>
            </a:r>
            <a:r>
              <a:rPr lang="en-US" sz="1200" b="1">
                <a:solidFill>
                  <a:srgbClr val="F7F5F0"/>
                </a:solidFill>
                <a:latin typeface="Microsoft YaHei"/>
                <a:ea typeface="Microsoft YaHei"/>
              </a:rPr>
              <a:t xml:space="preserve"> Vue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543675" y="3990975"/>
            <a:ext cx="461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站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 xml:space="preserve"> · Vue</a:t>
            </a: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　｜　对立度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 xml:space="preserve"> 1.00</a:t>
            </a:r>
            <a:r>
              <a:rPr lang="zh-CN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　｜　</a:t>
            </a:r>
            <a:r>
              <a:rPr lang="en-US" sz="938">
                <a:solidFill>
                  <a:srgbClr val="F7F5F0">
                    <a:alpha val="48000"/>
                  </a:srgbClr>
                </a:solidFill>
                <a:latin typeface="Microsoft YaHei"/>
                <a:ea typeface="Microsoft YaHei"/>
              </a:rPr>
              <a:t>v2ex.com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543675" y="4191000"/>
            <a:ext cx="46196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>同一个选型问题，相反结论</a:t>
            </a:r>
            <a:r>
              <a:rPr lang="en-US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13">
                <a:solidFill>
                  <a:srgbClr val="F7F5F0">
                    <a:alpha val="58000"/>
                  </a:srgbClr>
                </a:solidFill>
                <a:latin typeface="Microsoft YaHei"/>
                <a:ea typeface="Microsoft YaHei"/>
              </a:rPr>
              <a:t>而且是作者亲历的项目复盘。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546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>反库物理独立存放，靠条目</a:t>
            </a:r>
            <a:r>
              <a:rPr lang="en-US" sz="1125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>与原条目对应</a:t>
            </a:r>
            <a:r>
              <a:rPr lang="en-US" sz="1125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F7F5F0">
                    <a:alpha val="55000"/>
                  </a:srgbClr>
                </a:solidFill>
                <a:latin typeface="Microsoft YaHei"/>
                <a:ea typeface="Microsoft YaHei"/>
              </a:rPr>
              <a:t>不是「混在信息流里推点反对意见」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477500" y="61341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2410C"/>
                </a:solidFill>
                <a:latin typeface="Microsoft YaHei"/>
                <a:ea typeface="Microsoft YaHei"/>
              </a:rPr>
              <a:t>每条都能点回原文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5F0">
                    <a:alpha val="30000"/>
                  </a:srgbClr>
                </a:solidFill>
                <a:latin typeface="Microsoft YaHei"/>
                <a:ea typeface="Microsoft YaHei"/>
              </a:rPr>
              <a:t>ANTIPODE · TECHATHON 2026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5F0">
                    <a:alpha val="30000"/>
                  </a:srgbClr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71500" y="771525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0 4 ·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技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术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铁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律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1019175"/>
            <a:ext cx="110490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14161A"/>
                </a:solidFill>
                <a:latin typeface="Microsoft YaHei"/>
                <a:ea typeface="Microsoft YaHei"/>
              </a:rPr>
              <a:t>模型只负责</a:t>
            </a:r>
            <a:r>
              <a:rPr lang="zh-CN" sz="3000" b="1">
                <a:solidFill>
                  <a:srgbClr val="2F5BE4"/>
                </a:solidFill>
                <a:latin typeface="Microsoft YaHei"/>
                <a:ea typeface="Microsoft YaHei"/>
              </a:rPr>
              <a:t>提问</a:t>
            </a:r>
            <a:r>
              <a:rPr lang="zh-CN" sz="3000" b="1">
                <a:solidFill>
                  <a:srgbClr val="14161A"/>
                </a:solidFill>
                <a:latin typeface="Microsoft YaHei"/>
                <a:ea typeface="Microsoft YaHei"/>
              </a:rPr>
              <a:t>，答案必须来自</a:t>
            </a:r>
            <a:r>
              <a:rPr lang="zh-CN" sz="3000" b="1">
                <a:solidFill>
                  <a:srgbClr val="2F5BE4"/>
                </a:solidFill>
                <a:latin typeface="Microsoft YaHei"/>
                <a:ea typeface="Microsoft YaHei"/>
              </a:rPr>
              <a:t>真实检索</a:t>
            </a:r>
            <a:r>
              <a:rPr lang="zh-CN" sz="3000" b="1">
                <a:solidFill>
                  <a:srgbClr val="1416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16192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这是防幻觉唯一可靠的方式</a:t>
            </a:r>
            <a:r>
              <a:rPr lang="en-US" sz="1500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也是我们宁可产出少、也不刷数量的原因。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21717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5BE4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71500" y="241935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4161A"/>
                </a:solidFill>
                <a:latin typeface="Microsoft YaHei"/>
                <a:ea typeface="Microsoft YaHei"/>
              </a:rPr>
              <a:t>模型判立场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2800350"/>
            <a:ext cx="3143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>只回答「这段文本站在二元议题的哪一边」，不产出任何内容。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905250" y="24574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4161A">
                    <a:alpha val="25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305300" y="21717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5BE4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305300" y="241935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4161A"/>
                </a:solidFill>
                <a:latin typeface="Microsoft YaHei"/>
                <a:ea typeface="Microsoft YaHei"/>
              </a:rPr>
              <a:t>去真实源检索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305300" y="2800350"/>
            <a:ext cx="3143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>拿议题词去</a:t>
            </a:r>
            <a:r>
              <a:rPr lang="en-US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 xml:space="preserve"> V2EX / </a:t>
            </a:r>
            <a:r>
              <a:rPr lang="zh-CN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>掘金</a:t>
            </a:r>
            <a:r>
              <a:rPr lang="en-US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 xml:space="preserve"> / CSDN </a:t>
            </a:r>
            <a:r>
              <a:rPr lang="zh-CN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>抓真实帖子，候选必须带可访问</a:t>
            </a:r>
            <a:r>
              <a:rPr lang="en-US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 xml:space="preserve"> URL</a:t>
            </a:r>
            <a:r>
              <a:rPr lang="zh-CN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639050" y="24574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4161A">
                    <a:alpha val="25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039100" y="21717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C2410C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039100" y="241935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4161A"/>
                </a:solidFill>
                <a:latin typeface="Microsoft YaHei"/>
                <a:ea typeface="Microsoft YaHei"/>
              </a:rPr>
              <a:t>证据必须可校验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039100" y="2800350"/>
            <a:ext cx="3143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>证据必须是原文的真实子串</a:t>
            </a:r>
            <a:r>
              <a:rPr lang="zh-CN" sz="1275">
                <a:solidFill>
                  <a:srgbClr val="14161A">
                    <a:alpha val="65000"/>
                  </a:srgbClr>
                </a:solidFill>
                <a:latin typeface="Microsoft YaHei"/>
                <a:ea typeface="Microsoft YaHei"/>
              </a:rPr>
              <a:t>，对不上就丢，不降级。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571500" y="3924300"/>
            <a:ext cx="11049000" cy="561975"/>
          </a:xfrm>
          <a:custGeom>
            <a:pathLst>
              <a:path w="1160" h="59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1500" y="42195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2410C"/>
                </a:solidFill>
                <a:latin typeface="Microsoft YaHei"/>
                <a:ea typeface="Microsoft YaHei"/>
              </a:rPr>
              <a:t>我们拒绝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676400" y="4124325"/>
            <a:ext cx="99441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让模型「写一段反对意见」再去配个链接</a:t>
            </a:r>
            <a:r>
              <a:rPr lang="en-US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14161A">
                    <a:alpha val="62000"/>
                  </a:srgbClr>
                </a:solidFill>
                <a:latin typeface="Microsoft YaHei"/>
                <a:ea typeface="Microsoft YaHei"/>
              </a:rPr>
              <a:t>写得越像，越难被发现是编的。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71500" y="4724400"/>
            <a:ext cx="11049000" cy="1000125"/>
          </a:xfrm>
          <a:prstGeom prst="roundRect">
            <a:avLst>
              <a:gd name="adj" fmla="val 7619"/>
            </a:avLst>
          </a:prstGeom>
          <a:solidFill>
            <a:srgbClr val="14161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62000" y="48768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抽出来的一条证据（可直接核对）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62000" y="5086350"/>
            <a:ext cx="1066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F7F5F0">
                    <a:alpha val="88000"/>
                  </a:srgbClr>
                </a:solidFill>
                <a:latin typeface="Microsoft YaHei"/>
                <a:ea typeface="Microsoft YaHei"/>
              </a:rPr>
              <a:t xml:space="preserve">evidence_span = </a:t>
            </a:r>
            <a:r>
              <a:rPr lang="zh-CN" sz="1125">
                <a:solidFill>
                  <a:srgbClr val="F7F5F0">
                    <a:alpha val="88000"/>
                  </a:srgbClr>
                </a:solidFill>
                <a:latin typeface="Microsoft YaHei"/>
                <a:ea typeface="Microsoft YaHei"/>
              </a:rPr>
              <a:t>「</a:t>
            </a:r>
            <a:r>
              <a:rPr lang="en-US" sz="1125">
                <a:solidFill>
                  <a:srgbClr val="F7F5F0">
                    <a:alpha val="88000"/>
                  </a:srgbClr>
                </a:solidFill>
                <a:latin typeface="Microsoft YaHei"/>
                <a:ea typeface="Microsoft YaHei"/>
              </a:rPr>
              <a:t xml:space="preserve">CEO </a:t>
            </a:r>
            <a:r>
              <a:rPr lang="zh-CN" sz="1125">
                <a:solidFill>
                  <a:srgbClr val="F7F5F0">
                    <a:alpha val="88000"/>
                  </a:srgbClr>
                </a:solidFill>
                <a:latin typeface="Microsoft YaHei"/>
                <a:ea typeface="Microsoft YaHei"/>
              </a:rPr>
              <a:t>觉得微服务部署极其繁琐……要求把十来个微服务合并成一个」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62000" y="54197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https://www.v2ex.com/t/1106152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944100" y="5419725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F5BE4"/>
                </a:solidFill>
                <a:latin typeface="Microsoft YaHei"/>
                <a:ea typeface="Microsoft YaHei"/>
              </a:rPr>
              <a:t>校验通过：与原文逐字一致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ANTIPODE · TECHATHON 2026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0 5 ·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漏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斗（真实一次整库运行）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695325"/>
            <a:ext cx="11049000" cy="5429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850" b="1">
                <a:solidFill>
                  <a:srgbClr val="14161A"/>
                </a:solidFill>
                <a:latin typeface="Microsoft YaHei"/>
                <a:ea typeface="Microsoft YaHei"/>
              </a:rPr>
              <a:t xml:space="preserve">184 </a:t>
            </a:r>
            <a:r>
              <a:rPr lang="zh-CN" sz="2850" b="1">
                <a:solidFill>
                  <a:srgbClr val="14161A"/>
                </a:solidFill>
                <a:latin typeface="Microsoft YaHei"/>
                <a:ea typeface="Microsoft YaHei"/>
              </a:rPr>
              <a:t>个候选，最后留下</a:t>
            </a:r>
            <a:r>
              <a:rPr lang="en-US" sz="2850" b="1">
                <a:solidFill>
                  <a:srgbClr val="14161A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850" b="1">
                <a:solidFill>
                  <a:srgbClr val="C2410C"/>
                </a:solidFill>
                <a:latin typeface="Microsoft YaHei"/>
                <a:ea typeface="Microsoft YaHei"/>
              </a:rPr>
              <a:t>6</a:t>
            </a:r>
            <a:r>
              <a:rPr lang="en-US" sz="2850" b="1">
                <a:solidFill>
                  <a:srgbClr val="14161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850" b="1">
                <a:solidFill>
                  <a:srgbClr val="14161A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1314450"/>
            <a:ext cx="12382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4161A"/>
                </a:solidFill>
                <a:latin typeface="Microsoft YaHei"/>
                <a:ea typeface="Microsoft YaHei"/>
              </a:rPr>
              <a:t>184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019300" y="1533525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检索候选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2019300" y="1800225"/>
            <a:ext cx="4648200" cy="133350"/>
          </a:xfrm>
          <a:prstGeom prst="roundRect">
            <a:avLst>
              <a:gd name="adj" fmla="val 14286"/>
            </a:avLst>
          </a:prstGeom>
          <a:solidFill>
            <a:srgbClr val="2F5BE4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71500" y="2428875"/>
            <a:ext cx="12382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4161A"/>
                </a:solidFill>
                <a:latin typeface="Microsoft YaHei"/>
                <a:ea typeface="Microsoft YaHei"/>
              </a:rPr>
              <a:t>56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2019300" y="2647950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粗筛后送模型判定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2019300" y="2914650"/>
            <a:ext cx="1857375" cy="133350"/>
          </a:xfrm>
          <a:prstGeom prst="roundRect">
            <a:avLst>
              <a:gd name="adj" fmla="val 14286"/>
            </a:avLst>
          </a:prstGeom>
          <a:solidFill>
            <a:srgbClr val="2F5BE4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12382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2410C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019300" y="3762375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通过六道闸门，写入反库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2019300" y="4029075"/>
            <a:ext cx="200025" cy="13335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71500" y="4791075"/>
            <a:ext cx="6096000" cy="485775"/>
          </a:xfrm>
          <a:custGeom>
            <a:pathLst>
              <a:path w="640" h="51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71500" y="4972050"/>
            <a:ext cx="609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3.3% </a:t>
            </a:r>
            <a:r>
              <a:rPr lang="zh-CN" sz="1200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的留存率不是失败</a:t>
            </a:r>
            <a:r>
              <a:rPr lang="en-US" sz="1200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14161A"/>
                </a:solidFill>
                <a:latin typeface="Microsoft YaHei"/>
                <a:ea typeface="Microsoft YaHei"/>
              </a:rPr>
              <a:t>留下的每一条都能点回原文</a:t>
            </a:r>
            <a:r>
              <a:rPr lang="zh-CN" sz="1200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124700" y="13144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14161A">
                    <a:alpha val="45000"/>
                  </a:srgbClr>
                </a:solidFill>
                <a:latin typeface="Microsoft YaHei"/>
                <a:ea typeface="Microsoft YaHei"/>
              </a:rPr>
              <a:t>拒因（部分）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124700" y="1638300"/>
            <a:ext cx="3810000" cy="342900"/>
          </a:xfrm>
          <a:custGeom>
            <a:pathLst>
              <a:path w="400" h="36">
                <a:moveTo>
                  <a:pt x="0" y="35"/>
                </a:moveTo>
                <a:lnTo>
                  <a:pt x="400" y="35"/>
                </a:lnTo>
                <a:lnTo>
                  <a:pt x="400" y="36"/>
                </a:lnTo>
                <a:lnTo>
                  <a:pt x="0" y="36"/>
                </a:lnTo>
                <a:close/>
              </a:path>
            </a:pathLst>
          </a:custGeom>
          <a:solidFill>
            <a:srgbClr val="14161A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124700" y="163830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4161A"/>
                </a:solidFill>
                <a:latin typeface="Microsoft YaHei"/>
                <a:ea typeface="Microsoft YaHei"/>
              </a:rPr>
              <a:t>站错边（不是反方）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0715625" y="16383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4161A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124700" y="1971675"/>
            <a:ext cx="3810000" cy="457200"/>
          </a:xfrm>
          <a:custGeom>
            <a:pathLst>
              <a:path w="400" h="48">
                <a:moveTo>
                  <a:pt x="0" y="47"/>
                </a:moveTo>
                <a:lnTo>
                  <a:pt x="400" y="47"/>
                </a:lnTo>
                <a:lnTo>
                  <a:pt x="40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14161A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124700" y="20859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4161A"/>
                </a:solidFill>
                <a:latin typeface="Microsoft YaHei"/>
                <a:ea typeface="Microsoft YaHei"/>
              </a:rPr>
              <a:t>无对立性表述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0820400" y="2085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4161A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124700" y="2419350"/>
            <a:ext cx="3810000" cy="457200"/>
          </a:xfrm>
          <a:custGeom>
            <a:pathLst>
              <a:path w="400" h="48">
                <a:moveTo>
                  <a:pt x="0" y="47"/>
                </a:moveTo>
                <a:lnTo>
                  <a:pt x="400" y="47"/>
                </a:lnTo>
                <a:lnTo>
                  <a:pt x="40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14161A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124700" y="2533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4161A"/>
                </a:solidFill>
                <a:latin typeface="Microsoft YaHei"/>
                <a:ea typeface="Microsoft YaHei"/>
              </a:rPr>
              <a:t>判不出立场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820400" y="25336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4161A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7124700" y="2867025"/>
            <a:ext cx="3810000" cy="457200"/>
          </a:xfrm>
          <a:custGeom>
            <a:pathLst>
              <a:path w="400" h="48">
                <a:moveTo>
                  <a:pt x="0" y="47"/>
                </a:moveTo>
                <a:lnTo>
                  <a:pt x="400" y="47"/>
                </a:lnTo>
                <a:lnTo>
                  <a:pt x="40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14161A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124700" y="2981325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4161A"/>
                </a:solidFill>
                <a:latin typeface="Microsoft YaHei"/>
                <a:ea typeface="Microsoft YaHei"/>
              </a:rPr>
              <a:t>中立</a:t>
            </a:r>
            <a:r>
              <a:rPr lang="en-US" sz="1350">
                <a:solidFill>
                  <a:srgbClr val="14161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14161A"/>
                </a:solidFill>
                <a:latin typeface="Microsoft YaHei"/>
                <a:ea typeface="Microsoft YaHei"/>
              </a:rPr>
              <a:t>两面都说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820400" y="29813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4161A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124700" y="34290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161A">
                    <a:alpha val="45000"/>
                  </a:srgbClr>
                </a:solidFill>
                <a:latin typeface="Microsoft YaHei"/>
                <a:ea typeface="Microsoft YaHei"/>
              </a:rPr>
              <a:t>另有少数因对立度不足、教程标题被拒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124700" y="3790950"/>
            <a:ext cx="3810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还有</a:t>
            </a:r>
            <a:r>
              <a:rPr lang="en-US" sz="1050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 xml:space="preserve"> 128 </a:t>
            </a:r>
            <a:r>
              <a:rPr lang="zh-CN" sz="1050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个候选在粗筛阶段就被判为与本议题无关，没有进模型。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ANTIPODE · TECHATHON 2026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0 6 ·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真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正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难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的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地</a:t>
            </a:r>
            <a:r>
              <a:rPr lang="en-US" sz="975" spc="225">
                <a:solidFill>
                  <a:srgbClr val="2F5BE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2F5BE4"/>
                </a:solidFill>
                <a:latin typeface="Microsoft YaHei"/>
                <a:ea typeface="Microsoft YaHei"/>
              </a:rPr>
              <a:t>方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695325"/>
            <a:ext cx="11049000" cy="5429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850" b="1">
                <a:solidFill>
                  <a:srgbClr val="14161A"/>
                </a:solidFill>
                <a:latin typeface="Microsoft YaHei"/>
                <a:ea typeface="Microsoft YaHei"/>
              </a:rPr>
              <a:t>最大的敌人不是检索，是</a:t>
            </a:r>
            <a:r>
              <a:rPr lang="zh-CN" sz="2850" b="1">
                <a:solidFill>
                  <a:srgbClr val="C2410C"/>
                </a:solidFill>
                <a:latin typeface="Microsoft YaHei"/>
                <a:ea typeface="Microsoft YaHei"/>
              </a:rPr>
              <a:t>「看起来对」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" y="1333500"/>
            <a:ext cx="11077575" cy="1104900"/>
          </a:xfrm>
          <a:custGeom>
            <a:pathLst>
              <a:path w="1163" h="116">
                <a:moveTo>
                  <a:pt x="0" y="0"/>
                </a:moveTo>
                <a:lnTo>
                  <a:pt x="3" y="0"/>
                </a:lnTo>
                <a:lnTo>
                  <a:pt x="3" y="115"/>
                </a:lnTo>
                <a:lnTo>
                  <a:pt x="0" y="116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71500" y="1333500"/>
            <a:ext cx="11077575" cy="1104900"/>
          </a:xfrm>
          <a:custGeom>
            <a:pathLst>
              <a:path w="1163" h="116">
                <a:moveTo>
                  <a:pt x="3" y="115"/>
                </a:moveTo>
                <a:lnTo>
                  <a:pt x="1163" y="115"/>
                </a:lnTo>
                <a:lnTo>
                  <a:pt x="1163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09625" y="1371600"/>
            <a:ext cx="7191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4161A"/>
                </a:solidFill>
                <a:latin typeface="Microsoft YaHei"/>
                <a:ea typeface="Microsoft YaHei"/>
              </a:rPr>
              <a:t>字面相反，不等于立场相反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9625" y="1724025"/>
            <a:ext cx="71913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检索把「过度依赖辅助驾驶」当成「反对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编程助手」——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词对上了，议题错了。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229600" y="1371600"/>
            <a:ext cx="3390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解法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229600" y="1581150"/>
            <a:ext cx="3390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/>
                </a:solidFill>
                <a:latin typeface="Microsoft YaHei"/>
                <a:ea typeface="Microsoft YaHei"/>
              </a:rPr>
              <a:t>把议题做成二元结构，对立面是</a:t>
            </a:r>
            <a:r>
              <a:rPr lang="zh-CN" sz="1275" b="1">
                <a:solidFill>
                  <a:srgbClr val="14161A"/>
                </a:solidFill>
                <a:latin typeface="Microsoft YaHei"/>
                <a:ea typeface="Microsoft YaHei"/>
              </a:rPr>
              <a:t>符号运算</a:t>
            </a:r>
            <a:r>
              <a:rPr lang="zh-CN" sz="1275">
                <a:solidFill>
                  <a:srgbClr val="14161A"/>
                </a:solidFill>
                <a:latin typeface="Microsoft YaHei"/>
                <a:ea typeface="Microsoft YaHei"/>
              </a:rPr>
              <a:t>，不是语义判断。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71500" y="2428875"/>
            <a:ext cx="11077575" cy="1276350"/>
          </a:xfrm>
          <a:custGeom>
            <a:pathLst>
              <a:path w="1163" h="134">
                <a:moveTo>
                  <a:pt x="0" y="0"/>
                </a:moveTo>
                <a:lnTo>
                  <a:pt x="3" y="0"/>
                </a:lnTo>
                <a:lnTo>
                  <a:pt x="3" y="133"/>
                </a:lnTo>
                <a:lnTo>
                  <a:pt x="0" y="13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71500" y="2428875"/>
            <a:ext cx="11077575" cy="1276350"/>
          </a:xfrm>
          <a:custGeom>
            <a:pathLst>
              <a:path w="1163" h="134">
                <a:moveTo>
                  <a:pt x="3" y="133"/>
                </a:moveTo>
                <a:lnTo>
                  <a:pt x="1163" y="133"/>
                </a:lnTo>
                <a:lnTo>
                  <a:pt x="1163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09625" y="2638425"/>
            <a:ext cx="7191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4161A"/>
                </a:solidFill>
                <a:latin typeface="Microsoft YaHei"/>
                <a:ea typeface="Microsoft YaHei"/>
              </a:rPr>
              <a:t>同形异义：同一个词，两场争论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9625" y="2990850"/>
            <a:ext cx="71913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「自建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CDN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」被当成「自建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上云」；《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vue3 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源码解析》被当成「支持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Vue 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的观点」。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229600" y="2638425"/>
            <a:ext cx="3390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解法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229600" y="2847975"/>
            <a:ext cx="3390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/>
                </a:solidFill>
                <a:latin typeface="Microsoft YaHei"/>
                <a:ea typeface="Microsoft YaHei"/>
              </a:rPr>
              <a:t>议题守卫</a:t>
            </a:r>
            <a:r>
              <a:rPr lang="en-US" sz="1275">
                <a:solidFill>
                  <a:srgbClr val="14161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14161A"/>
                </a:solidFill>
                <a:latin typeface="Microsoft YaHei"/>
                <a:ea typeface="Microsoft YaHei"/>
              </a:rPr>
              <a:t>教程标题守卫，</a:t>
            </a:r>
            <a:r>
              <a:rPr lang="zh-CN" sz="1275" b="1">
                <a:solidFill>
                  <a:srgbClr val="14161A"/>
                </a:solidFill>
                <a:latin typeface="Microsoft YaHei"/>
                <a:ea typeface="Microsoft YaHei"/>
              </a:rPr>
              <a:t>标题优先、纯规则、零模型成本</a:t>
            </a:r>
            <a:r>
              <a:rPr lang="zh-CN" sz="1275">
                <a:solidFill>
                  <a:srgbClr val="1416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71500" y="3695700"/>
            <a:ext cx="11077575" cy="1276350"/>
          </a:xfrm>
          <a:custGeom>
            <a:pathLst>
              <a:path w="1163" h="134">
                <a:moveTo>
                  <a:pt x="0" y="0"/>
                </a:moveTo>
                <a:lnTo>
                  <a:pt x="3" y="0"/>
                </a:lnTo>
                <a:lnTo>
                  <a:pt x="3" y="133"/>
                </a:lnTo>
                <a:lnTo>
                  <a:pt x="0" y="134"/>
                </a:lnTo>
                <a:close/>
              </a:path>
            </a:pathLst>
          </a:cu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71500" y="3695700"/>
            <a:ext cx="11077575" cy="1276350"/>
          </a:xfrm>
          <a:custGeom>
            <a:pathLst>
              <a:path w="1163" h="134">
                <a:moveTo>
                  <a:pt x="3" y="133"/>
                </a:moveTo>
                <a:lnTo>
                  <a:pt x="1163" y="133"/>
                </a:lnTo>
                <a:lnTo>
                  <a:pt x="1163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14161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09625" y="3905250"/>
            <a:ext cx="7191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4161A"/>
                </a:solidFill>
                <a:latin typeface="Microsoft YaHei"/>
                <a:ea typeface="Microsoft YaHei"/>
              </a:rPr>
              <a:t>议题串味：顺带提一句，就被判成了立场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09625" y="4257675"/>
            <a:ext cx="71913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一篇讲远程办公的文章，因为文中提了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工具，被判成「</a:t>
            </a:r>
            <a:r>
              <a:rPr lang="en-US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14161A">
                    <a:alpha val="60000"/>
                  </a:srgbClr>
                </a:solidFill>
                <a:latin typeface="Microsoft YaHei"/>
                <a:ea typeface="Microsoft YaHei"/>
              </a:rPr>
              <a:t>助手有益」。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229600" y="3905250"/>
            <a:ext cx="3390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解法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229600" y="4114800"/>
            <a:ext cx="3390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4161A"/>
                </a:solidFill>
                <a:latin typeface="Microsoft YaHei"/>
                <a:ea typeface="Microsoft YaHei"/>
              </a:rPr>
              <a:t>议题覆盖率闸门；不达标就把范围收紧到最高议题</a:t>
            </a:r>
            <a:r>
              <a:rPr lang="zh-CN" sz="1275" b="1">
                <a:solidFill>
                  <a:srgbClr val="14161A"/>
                </a:solidFill>
                <a:latin typeface="Microsoft YaHei"/>
                <a:ea typeface="Microsoft YaHei"/>
              </a:rPr>
              <a:t>重判一次</a:t>
            </a:r>
            <a:r>
              <a:rPr lang="zh-CN" sz="1275">
                <a:solidFill>
                  <a:srgbClr val="1416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71500" y="5191125"/>
            <a:ext cx="11049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这三条都是</a:t>
            </a:r>
            <a:r>
              <a:rPr lang="zh-CN" sz="1200" b="1">
                <a:solidFill>
                  <a:srgbClr val="14161A"/>
                </a:solidFill>
                <a:latin typeface="Microsoft YaHei"/>
                <a:ea typeface="Microsoft YaHei"/>
              </a:rPr>
              <a:t>整库连跑时才暴露的</a:t>
            </a:r>
            <a:r>
              <a:rPr lang="en-US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单条</a:t>
            </a:r>
            <a:r>
              <a:rPr lang="en-US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 xml:space="preserve"> demo </a:t>
            </a:r>
            <a:r>
              <a:rPr lang="zh-CN" sz="1200">
                <a:solidFill>
                  <a:srgbClr val="14161A">
                    <a:alpha val="55000"/>
                  </a:srgbClr>
                </a:solidFill>
                <a:latin typeface="Microsoft YaHei"/>
                <a:ea typeface="Microsoft YaHei"/>
              </a:rPr>
              <a:t>永远测不出来，所以我们坚持跑整库、记账到每一条。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ANTIPODE · TECHATHON 2026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4161A">
                    <a:alpha val="40000"/>
                  </a:srgbClr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4161A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71500" y="504825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 xml:space="preserve">0 7 · </a:t>
            </a:r>
            <a:r>
              <a:rPr lang="zh-CN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实</a:t>
            </a:r>
            <a:r>
              <a:rPr lang="en-US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2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测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71500" y="752475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F7F5F0"/>
                </a:solidFill>
                <a:latin typeface="Microsoft YaHei"/>
                <a:ea typeface="Microsoft YaHei"/>
              </a:rPr>
              <a:t>不吹，就三个数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71500" y="2314575"/>
            <a:ext cx="36766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7F5F0"/>
                </a:solidFill>
                <a:latin typeface="Microsoft YaHei"/>
                <a:ea typeface="Microsoft YaHei"/>
              </a:rPr>
              <a:t>90.2%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71500" y="3629025"/>
            <a:ext cx="457200" cy="19050"/>
          </a:xfrm>
          <a:prstGeom prst="rect">
            <a:avLst/>
          </a:prstGeom>
          <a:solidFill>
            <a:srgbClr val="2F5BE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1500" y="3819525"/>
            <a:ext cx="3676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7F5F0">
                    <a:alpha val="85000"/>
                  </a:srgbClr>
                </a:solidFill>
                <a:latin typeface="Microsoft YaHei"/>
                <a:ea typeface="Microsoft YaHei"/>
              </a:rPr>
              <a:t>立场抽取四分类准确率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71500" y="4095750"/>
            <a:ext cx="3676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 xml:space="preserve">41 </a:t>
            </a:r>
            <a:r>
              <a:rPr lang="zh-CN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>条人工标注评测集，非训练集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248150" y="2238375"/>
            <a:ext cx="9525" cy="2095500"/>
          </a:xfrm>
          <a:prstGeom prst="rect">
            <a:avLst/>
          </a:prstGeom>
          <a:solidFill>
            <a:srgbClr val="F7F5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676775" y="2314575"/>
            <a:ext cx="32575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7F5F0"/>
                </a:solidFill>
                <a:latin typeface="Microsoft YaHei"/>
                <a:ea typeface="Microsoft YaHei"/>
              </a:rPr>
              <a:t>43%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4676775" y="3629025"/>
            <a:ext cx="457200" cy="19050"/>
          </a:xfrm>
          <a:prstGeom prst="rect">
            <a:avLst/>
          </a:prstGeom>
          <a:solidFill>
            <a:srgbClr val="2F5BE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676775" y="3819525"/>
            <a:ext cx="3257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7F5F0">
                    <a:alpha val="85000"/>
                  </a:srgbClr>
                </a:solidFill>
                <a:latin typeface="Microsoft YaHei"/>
                <a:ea typeface="Microsoft YaHei"/>
              </a:rPr>
              <a:t>条目命中率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676775" y="4095750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>条有效条目里</a:t>
            </a:r>
            <a:r>
              <a:rPr lang="en-US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>条找到了对立面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934325" y="2238375"/>
            <a:ext cx="9525" cy="2095500"/>
          </a:xfrm>
          <a:prstGeom prst="rect">
            <a:avLst/>
          </a:prstGeom>
          <a:solidFill>
            <a:srgbClr val="F7F5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362950" y="2314575"/>
            <a:ext cx="32575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C2410C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8362950" y="3629025"/>
            <a:ext cx="457200" cy="1905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62950" y="3819525"/>
            <a:ext cx="3257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7F5F0">
                    <a:alpha val="85000"/>
                  </a:srgbClr>
                </a:solidFill>
                <a:latin typeface="Microsoft YaHei"/>
                <a:ea typeface="Microsoft YaHei"/>
              </a:rPr>
              <a:t>条</a:t>
            </a:r>
            <a:r>
              <a:rPr lang="en-US" sz="1425">
                <a:solidFill>
                  <a:srgbClr val="F7F5F0">
                    <a:alpha val="85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F7F5F0">
                    <a:alpha val="85000"/>
                  </a:srgbClr>
                </a:solidFill>
                <a:latin typeface="Microsoft YaHei"/>
                <a:ea typeface="Microsoft YaHei"/>
              </a:rPr>
              <a:t>编造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62950" y="4095750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>条反库条目，全部带真实</a:t>
            </a:r>
            <a:r>
              <a:rPr lang="en-US" sz="11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 xml:space="preserve"> URL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5334000"/>
            <a:ext cx="11049000" cy="504825"/>
          </a:xfrm>
          <a:custGeom>
            <a:pathLst>
              <a:path w="1160" h="53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5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55911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2410C"/>
                </a:solidFill>
                <a:latin typeface="Microsoft YaHei"/>
                <a:ea typeface="Microsoft YaHei"/>
              </a:rPr>
              <a:t>诚实的边界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543050" y="5514975"/>
            <a:ext cx="100774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中文观点内容的检索平均可用率约</a:t>
            </a:r>
            <a:r>
              <a:rPr lang="en-US" sz="1275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 xml:space="preserve"> 1/4</a:t>
            </a:r>
            <a:r>
              <a:rPr lang="zh-CN" sz="1275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。我们把这条写进材料，而不是用「候选数」冒充产出量；所有数字都可用</a:t>
            </a:r>
            <a:r>
              <a:rPr lang="en-US" sz="1275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 xml:space="preserve"> run_vault.py </a:t>
            </a:r>
            <a:r>
              <a:rPr lang="zh-CN" sz="1275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复跑。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5F0">
                    <a:alpha val="30000"/>
                  </a:srgbClr>
                </a:solidFill>
                <a:latin typeface="Microsoft YaHei"/>
                <a:ea typeface="Microsoft YaHei"/>
              </a:rPr>
              <a:t>ANTIPODE · TECHATHON 2026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5F0">
                    <a:alpha val="30000"/>
                  </a:srgbClr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161A"/>
              </a:gs>
              <a:gs pos="100000">
                <a:srgbClr val="1D2430"/>
              </a:gs>
            </a:gsLst>
            <a:lin ang="18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62000" y="1362075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F7F5F0">
                    <a:alpha val="40000"/>
                  </a:srgbClr>
                </a:solidFill>
                <a:latin typeface="Microsoft YaHei"/>
                <a:ea typeface="Microsoft YaHei"/>
              </a:rPr>
              <a:t>TECHATHON 2026 · ANTIPODE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2000" y="1800225"/>
            <a:ext cx="10668000" cy="1981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4800" b="1">
                <a:solidFill>
                  <a:srgbClr val="F7F5F0"/>
                </a:solidFill>
                <a:latin typeface="Microsoft YaHei"/>
                <a:ea typeface="Microsoft YaHei"/>
              </a:rPr>
              <a:t>仓库之外，</a:t>
            </a:r>
            <a:endParaRPr/>
          </a:p>
          <a:p>
            <a:pPr>
              <a:lnSpc>
                <a:spcPct val="135000"/>
              </a:lnSpc>
            </a:pPr>
            <a:r>
              <a:rPr lang="zh-CN" sz="4800" b="1">
                <a:solidFill>
                  <a:srgbClr val="F7F5F0"/>
                </a:solidFill>
                <a:latin typeface="Microsoft YaHei"/>
                <a:ea typeface="Microsoft YaHei"/>
              </a:rPr>
              <a:t>还应该有一层。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62000" y="4105275"/>
            <a:ext cx="609600" cy="1905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62000" y="4371975"/>
            <a:ext cx="106680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不是让你看得更多，是让你看见自己</a:t>
            </a:r>
            <a:r>
              <a:rPr lang="zh-CN" sz="1650" b="1">
                <a:solidFill>
                  <a:srgbClr val="F7F5F0"/>
                </a:solidFill>
                <a:latin typeface="Microsoft YaHei"/>
                <a:ea typeface="Microsoft YaHei"/>
              </a:rPr>
              <a:t>没在看的那一面</a:t>
            </a:r>
            <a:r>
              <a:rPr lang="zh-CN" sz="1650">
                <a:solidFill>
                  <a:srgbClr val="F7F5F0">
                    <a:alpha val="6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2000" y="53340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可选开关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657350" y="5334000"/>
            <a:ext cx="3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019300" y="53340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真实出处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914650" y="5334000"/>
            <a:ext cx="3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276600" y="53340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5F0">
                    <a:alpha val="45000"/>
                  </a:srgbClr>
                </a:solidFill>
                <a:latin typeface="Microsoft YaHei"/>
                <a:ea typeface="Microsoft YaHei"/>
              </a:rPr>
              <a:t>没有就不给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62000" y="6057900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5F0">
                    <a:alpha val="32000"/>
                  </a:srgbClr>
                </a:solidFill>
                <a:latin typeface="Microsoft YaHei"/>
                <a:ea typeface="Microsoft YaHei"/>
              </a:rPr>
              <a:t>github.com/Techathon2026/antipode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62000" y="625792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5F0">
                    <a:alpha val="32000"/>
                  </a:srgbClr>
                </a:solidFill>
                <a:latin typeface="Microsoft YaHei"/>
                <a:ea typeface="Microsoft YaHei"/>
              </a:rPr>
              <a:t>docs/</a:t>
            </a:r>
            <a:r>
              <a:rPr lang="zh-CN" sz="1050">
                <a:solidFill>
                  <a:srgbClr val="F7F5F0">
                    <a:alpha val="32000"/>
                  </a:srgbClr>
                </a:solidFill>
                <a:latin typeface="Microsoft YaHei"/>
                <a:ea typeface="Microsoft YaHei"/>
              </a:rPr>
              <a:t>反库演示</a:t>
            </a:r>
            <a:r>
              <a:rPr lang="en-US" sz="1050">
                <a:solidFill>
                  <a:srgbClr val="F7F5F0">
                    <a:alpha val="32000"/>
                  </a:srgbClr>
                </a:solidFill>
                <a:latin typeface="Microsoft YaHei"/>
                <a:ea typeface="Microsoft YaHei"/>
              </a:rPr>
              <a:t>.html</a:t>
            </a:r>
            <a:r>
              <a:rPr lang="zh-CN" sz="1050">
                <a:solidFill>
                  <a:srgbClr val="F7F5F0">
                    <a:alpha val="32000"/>
                  </a:srgbClr>
                </a:solidFill>
                <a:latin typeface="Microsoft YaHei"/>
                <a:ea typeface="Microsoft YaHei"/>
              </a:rPr>
              <a:t>　·　断网可演示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163300" y="62579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5F0">
                    <a:alpha val="32000"/>
                  </a:srgbClr>
                </a:solidFill>
                <a:latin typeface="Microsoft YaHei"/>
                <a:ea typeface="Microsoft YaHei"/>
              </a:rPr>
              <a:t>谢谢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2026-10-17T19:32:16Z</dcterms:created>
  <dcterms:modified xsi:type="dcterms:W3CDTF">2026-10-17T19:32:16Z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{"AIGC":{"Label":"1","ContentProducer":"00119111010856365494821B355","ProduceID":"01a1485243e67013b2328fba7bd217a3","ReservedCode1":"","ContentPropagator":"00119111010856365494821B355","PropagateID":"01a1485243e67013b2328fba7bd217a3","ReservedCode2":""}}</vt:lpwstr>
  </property>
</Properties>
</file>